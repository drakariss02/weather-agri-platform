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8229600" cx="14630400"/>
  <p:notesSz cx="8229600" cy="14630400"/>
  <p:embeddedFontLst>
    <p:embeddedFont>
      <p:font typeface="Libre Baskerville"/>
      <p:regular r:id="rId15"/>
      <p:bold r:id="rId16"/>
      <p:italic r:id="rId17"/>
    </p:embeddedFont>
    <p:embeddedFont>
      <p:font typeface="Open Sans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897AC37-94DA-4EBD-9043-EE0F7511010A}">
  <a:tblStyle styleId="{D897AC37-94DA-4EBD-9043-EE0F7511010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OpenSans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LibreBaskerville-regular.fntdata"/><Relationship Id="rId14" Type="http://schemas.openxmlformats.org/officeDocument/2006/relationships/slide" Target="slides/slide9.xml"/><Relationship Id="rId17" Type="http://schemas.openxmlformats.org/officeDocument/2006/relationships/font" Target="fonts/LibreBaskerville-italic.fntdata"/><Relationship Id="rId16" Type="http://schemas.openxmlformats.org/officeDocument/2006/relationships/font" Target="fonts/LibreBaskerville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-bold.fntdata"/><Relationship Id="rId6" Type="http://schemas.openxmlformats.org/officeDocument/2006/relationships/slide" Target="slides/slide1.xml"/><Relationship Id="rId18" Type="http://schemas.openxmlformats.org/officeDocument/2006/relationships/font" Target="fonts/OpenSa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1bf20e9fe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1bf20e9fe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g3a1bf20e9fe_0_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08a551abc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08a551abc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g3a08a551abc_0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08a551abc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08a551abc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g3a08a551abc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0b61db03b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a0b61db03b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a0b61db03b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0b61db03b_1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0b61db03b_1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g3a0b61db03b_1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1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1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5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/>
          <p:nvPr/>
        </p:nvSpPr>
        <p:spPr>
          <a:xfrm>
            <a:off x="657202" y="1646150"/>
            <a:ext cx="70551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4450"/>
              <a:buFont typeface="Libre Baskerville"/>
              <a:buNone/>
            </a:pPr>
            <a:r>
              <a:rPr b="1" i="0" lang="en-US" sz="2700" u="none" cap="none" strike="noStrike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Groupe 13</a:t>
            </a:r>
            <a:endParaRPr b="1" i="0" sz="2700" u="none" cap="none" strike="noStrike"/>
          </a:p>
        </p:txBody>
      </p:sp>
      <p:pic>
        <p:nvPicPr>
          <p:cNvPr id="57" name="Google Shape;57;p13" title="1732404341207-fotor-202511051218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375" y="2229154"/>
            <a:ext cx="4606249" cy="4106380"/>
          </a:xfrm>
          <a:prstGeom prst="rect">
            <a:avLst/>
          </a:prstGeom>
          <a:noFill/>
          <a:ln>
            <a:noFill/>
          </a:ln>
          <a:effectLst>
            <a:outerShdw blurRad="63302" rotWithShape="0" algn="bl" dir="5400000" dist="21101">
              <a:srgbClr val="000000">
                <a:alpha val="50000"/>
              </a:srgbClr>
            </a:outerShdw>
          </a:effectLst>
        </p:spPr>
      </p:pic>
      <p:sp>
        <p:nvSpPr>
          <p:cNvPr id="58" name="Google Shape;58;p13"/>
          <p:cNvSpPr/>
          <p:nvPr/>
        </p:nvSpPr>
        <p:spPr>
          <a:xfrm>
            <a:off x="183548" y="6671479"/>
            <a:ext cx="42753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2437"/>
              <a:buFont typeface="Libre Baskerville"/>
              <a:buNone/>
            </a:pPr>
            <a:r>
              <a:rPr b="0" i="0" lang="en-US" sz="3101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Mamadou Cissokho</a:t>
            </a:r>
            <a:endParaRPr b="0" i="0" sz="3101" u="none" cap="none" strike="noStrike"/>
          </a:p>
        </p:txBody>
      </p:sp>
      <p:sp>
        <p:nvSpPr>
          <p:cNvPr id="59" name="Google Shape;59;p13"/>
          <p:cNvSpPr/>
          <p:nvPr/>
        </p:nvSpPr>
        <p:spPr>
          <a:xfrm>
            <a:off x="183533" y="7155734"/>
            <a:ext cx="4606500" cy="3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938"/>
              <a:buFont typeface="Open Sans"/>
              <a:buNone/>
            </a:pPr>
            <a:r>
              <a:rPr b="0" i="0" lang="en-US" sz="2602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Data Scientist</a:t>
            </a:r>
            <a:endParaRPr b="0" i="0" sz="2602" u="none" cap="none" strike="noStrike"/>
          </a:p>
        </p:txBody>
      </p:sp>
      <p:pic>
        <p:nvPicPr>
          <p:cNvPr id="60" name="Google Shape;60;p13" title="image-fotor-20251105123713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03786" y="2341130"/>
            <a:ext cx="4606250" cy="410638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/>
          <p:nvPr/>
        </p:nvSpPr>
        <p:spPr>
          <a:xfrm>
            <a:off x="5103786" y="6626683"/>
            <a:ext cx="31404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2437"/>
              <a:buFont typeface="Libre Baskerville"/>
              <a:buNone/>
            </a:pPr>
            <a:r>
              <a:rPr b="0" i="0" lang="en-US" sz="3101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Ibrahima Faye</a:t>
            </a:r>
            <a:endParaRPr b="0" i="0" sz="3101" u="none" cap="none" strike="noStrike"/>
          </a:p>
        </p:txBody>
      </p:sp>
      <p:sp>
        <p:nvSpPr>
          <p:cNvPr id="62" name="Google Shape;62;p13"/>
          <p:cNvSpPr/>
          <p:nvPr/>
        </p:nvSpPr>
        <p:spPr>
          <a:xfrm>
            <a:off x="5103786" y="7155734"/>
            <a:ext cx="4606500" cy="7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938"/>
              <a:buFont typeface="Open Sans"/>
              <a:buNone/>
            </a:pPr>
            <a:r>
              <a:rPr b="0" i="0" lang="en-US" sz="2602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Data Scientist, Software Engineer &amp; UI/UX Designer</a:t>
            </a:r>
            <a:endParaRPr b="0" i="0" sz="2602" u="none" cap="none" strike="noStrike"/>
          </a:p>
        </p:txBody>
      </p:sp>
      <p:pic>
        <p:nvPicPr>
          <p:cNvPr id="63" name="Google Shape;63;p13" title="WhatsApp Image 2025-11-09 at 15.27.40-fotor-20251109154245.png"/>
          <p:cNvPicPr preferRelativeResize="0"/>
          <p:nvPr/>
        </p:nvPicPr>
        <p:blipFill rotWithShape="1">
          <a:blip r:embed="rId5">
            <a:alphaModFix/>
          </a:blip>
          <a:srcRect b="5420" l="0" r="0" t="5429"/>
          <a:stretch/>
        </p:blipFill>
        <p:spPr>
          <a:xfrm>
            <a:off x="10024163" y="2430630"/>
            <a:ext cx="4606250" cy="4106384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3"/>
          <p:cNvSpPr/>
          <p:nvPr/>
        </p:nvSpPr>
        <p:spPr>
          <a:xfrm>
            <a:off x="10024045" y="6671479"/>
            <a:ext cx="3951000" cy="3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2437"/>
              <a:buFont typeface="Libre Baskerville"/>
              <a:buNone/>
            </a:pPr>
            <a:r>
              <a:rPr b="0" i="0" lang="en-US" sz="3101" u="none" cap="none" strike="noStrike">
                <a:solidFill>
                  <a:srgbClr val="49495A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Mamie Naar Sene</a:t>
            </a:r>
            <a:endParaRPr b="0" i="0" sz="3101" u="none" cap="none" strike="noStrike"/>
          </a:p>
        </p:txBody>
      </p:sp>
      <p:sp>
        <p:nvSpPr>
          <p:cNvPr id="65" name="Google Shape;65;p13"/>
          <p:cNvSpPr/>
          <p:nvPr/>
        </p:nvSpPr>
        <p:spPr>
          <a:xfrm>
            <a:off x="10024038" y="7155734"/>
            <a:ext cx="4606500" cy="3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938"/>
              <a:buFont typeface="Open Sans"/>
              <a:buNone/>
            </a:pPr>
            <a:r>
              <a:rPr b="0" i="0" lang="en-US" sz="2602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Data Engineer</a:t>
            </a:r>
            <a:endParaRPr b="0" i="0" sz="2602" u="none" cap="none" strike="noStrike"/>
          </a:p>
        </p:txBody>
      </p:sp>
      <p:sp>
        <p:nvSpPr>
          <p:cNvPr id="66" name="Google Shape;66;p13"/>
          <p:cNvSpPr/>
          <p:nvPr/>
        </p:nvSpPr>
        <p:spPr>
          <a:xfrm>
            <a:off x="4315551" y="207875"/>
            <a:ext cx="71154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4450"/>
              <a:buFont typeface="Libre Baskerville"/>
              <a:buNone/>
            </a:pPr>
            <a:r>
              <a:rPr b="1" i="0" lang="en-US" sz="4450" u="none" cap="none" strike="noStrike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Weather Agri Platform</a:t>
            </a:r>
            <a:endParaRPr b="1" i="0" sz="4450" u="none" cap="none" strike="noStrike"/>
          </a:p>
        </p:txBody>
      </p:sp>
      <p:sp>
        <p:nvSpPr>
          <p:cNvPr id="67" name="Google Shape;67;p13"/>
          <p:cNvSpPr/>
          <p:nvPr/>
        </p:nvSpPr>
        <p:spPr>
          <a:xfrm>
            <a:off x="3919777" y="1007550"/>
            <a:ext cx="89667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750"/>
              <a:buFont typeface="Open Sans"/>
              <a:buNone/>
            </a:pPr>
            <a:r>
              <a:rPr b="0" i="0" lang="en-US" sz="27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Pour une agriculture plus intelligente et résiliente</a:t>
            </a:r>
            <a:endParaRPr b="0" i="0" sz="270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/>
          <p:nvPr/>
        </p:nvSpPr>
        <p:spPr>
          <a:xfrm>
            <a:off x="638300" y="5816300"/>
            <a:ext cx="12404700" cy="9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2250"/>
              <a:buFont typeface="Libre Baskerville"/>
              <a:buNone/>
            </a:pPr>
            <a:r>
              <a:rPr b="1" lang="en-US" sz="270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Résultats de Modélisation</a:t>
            </a:r>
            <a:endParaRPr b="1" i="0" sz="2700" u="none" cap="none" strike="noStrike"/>
          </a:p>
        </p:txBody>
      </p:sp>
      <p:sp>
        <p:nvSpPr>
          <p:cNvPr id="74" name="Google Shape;74;p14"/>
          <p:cNvSpPr/>
          <p:nvPr/>
        </p:nvSpPr>
        <p:spPr>
          <a:xfrm>
            <a:off x="638300" y="6923950"/>
            <a:ext cx="12404700" cy="9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2250"/>
              <a:buFont typeface="Libre Baskerville"/>
              <a:buNone/>
            </a:pPr>
            <a:r>
              <a:rPr b="1" i="0" lang="en-US" sz="2700" u="none" cap="none" strike="noStrike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Démonstration de l'Application</a:t>
            </a:r>
            <a:endParaRPr b="1" i="0" sz="2700" u="none" cap="none" strike="noStrike"/>
          </a:p>
        </p:txBody>
      </p:sp>
      <p:sp>
        <p:nvSpPr>
          <p:cNvPr id="75" name="Google Shape;75;p14"/>
          <p:cNvSpPr/>
          <p:nvPr/>
        </p:nvSpPr>
        <p:spPr>
          <a:xfrm>
            <a:off x="638300" y="4708650"/>
            <a:ext cx="12404700" cy="9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2250"/>
              <a:buFont typeface="Libre Baskerville"/>
              <a:buNone/>
            </a:pPr>
            <a:r>
              <a:rPr b="1" lang="en-US" sz="270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Sources de Données</a:t>
            </a:r>
            <a:endParaRPr b="1" i="0" sz="2700" u="none" cap="none" strike="noStrike"/>
          </a:p>
        </p:txBody>
      </p:sp>
      <p:sp>
        <p:nvSpPr>
          <p:cNvPr id="76" name="Google Shape;76;p14"/>
          <p:cNvSpPr/>
          <p:nvPr/>
        </p:nvSpPr>
        <p:spPr>
          <a:xfrm>
            <a:off x="638300" y="2519600"/>
            <a:ext cx="12404700" cy="9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2250"/>
              <a:buFont typeface="Libre Baskerville"/>
              <a:buNone/>
            </a:pPr>
            <a:r>
              <a:rPr b="1" lang="en-US" sz="270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Solutions actuelles</a:t>
            </a:r>
            <a:endParaRPr b="1" i="0" sz="2700" u="none" cap="none" strike="noStrike"/>
          </a:p>
        </p:txBody>
      </p:sp>
      <p:sp>
        <p:nvSpPr>
          <p:cNvPr id="77" name="Google Shape;77;p14"/>
          <p:cNvSpPr/>
          <p:nvPr/>
        </p:nvSpPr>
        <p:spPr>
          <a:xfrm>
            <a:off x="638300" y="3721350"/>
            <a:ext cx="12404700" cy="9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2250"/>
              <a:buFont typeface="Libre Baskerville"/>
              <a:buNone/>
            </a:pPr>
            <a:r>
              <a:rPr b="1" lang="en-US" sz="270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Presentation de notre Plateforme</a:t>
            </a:r>
            <a:endParaRPr b="1" i="0" sz="2700" u="none" cap="none" strike="noStrike"/>
          </a:p>
        </p:txBody>
      </p:sp>
      <p:sp>
        <p:nvSpPr>
          <p:cNvPr id="78" name="Google Shape;78;p14"/>
          <p:cNvSpPr/>
          <p:nvPr/>
        </p:nvSpPr>
        <p:spPr>
          <a:xfrm>
            <a:off x="638300" y="1317850"/>
            <a:ext cx="12404700" cy="9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2250"/>
              <a:buFont typeface="Libre Baskerville"/>
              <a:buNone/>
            </a:pPr>
            <a:r>
              <a:rPr b="1" lang="en-US" sz="270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Défi</a:t>
            </a:r>
            <a:r>
              <a:rPr b="1" lang="en-US" sz="270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Agricole en Afrique</a:t>
            </a:r>
            <a:endParaRPr b="1" i="0" sz="2700" u="none" cap="none" strike="noStrike"/>
          </a:p>
        </p:txBody>
      </p:sp>
      <p:sp>
        <p:nvSpPr>
          <p:cNvPr id="79" name="Google Shape;79;p14"/>
          <p:cNvSpPr/>
          <p:nvPr/>
        </p:nvSpPr>
        <p:spPr>
          <a:xfrm>
            <a:off x="5891000" y="181550"/>
            <a:ext cx="3012000" cy="9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2250"/>
              <a:buFont typeface="Libre Baskerville"/>
              <a:buNone/>
            </a:pPr>
            <a:r>
              <a:rPr b="1" lang="en-US" sz="5500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PLAN</a:t>
            </a:r>
            <a:endParaRPr b="1" i="0" sz="550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8100"/>
            <a:ext cx="14630400" cy="815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4630400" cy="8229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4630400" cy="8229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0800"/>
            <a:ext cx="14630400" cy="8229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/>
          <p:nvPr/>
        </p:nvSpPr>
        <p:spPr>
          <a:xfrm>
            <a:off x="484225" y="380400"/>
            <a:ext cx="12836100" cy="43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2700"/>
              <a:buFont typeface="Libre Baskerville"/>
              <a:buNone/>
            </a:pPr>
            <a:r>
              <a:rPr b="0" i="0" lang="en-US" sz="5000" u="none" cap="none" strike="noStrike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Résultats de Modélisation</a:t>
            </a:r>
            <a:endParaRPr b="0" i="0" sz="5000" u="none" cap="none" strike="noStrike"/>
          </a:p>
        </p:txBody>
      </p:sp>
      <p:sp>
        <p:nvSpPr>
          <p:cNvPr id="110" name="Google Shape;110;p19"/>
          <p:cNvSpPr/>
          <p:nvPr/>
        </p:nvSpPr>
        <p:spPr>
          <a:xfrm>
            <a:off x="484225" y="1436104"/>
            <a:ext cx="136620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050"/>
              <a:buFont typeface="Open Sans"/>
              <a:buNone/>
            </a:pPr>
            <a:r>
              <a:rPr b="0" i="0" lang="en-US" sz="27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Performance des modèles prédictifs par tâche (F1 Score et MAE)</a:t>
            </a:r>
            <a:endParaRPr b="0" i="0" sz="2700" u="none" cap="none" strike="noStrike"/>
          </a:p>
        </p:txBody>
      </p:sp>
      <p:sp>
        <p:nvSpPr>
          <p:cNvPr id="111" name="Google Shape;111;p19"/>
          <p:cNvSpPr/>
          <p:nvPr/>
        </p:nvSpPr>
        <p:spPr>
          <a:xfrm>
            <a:off x="308702" y="5064488"/>
            <a:ext cx="13662000" cy="587700"/>
          </a:xfrm>
          <a:prstGeom prst="roundRect">
            <a:avLst>
              <a:gd fmla="val 3531" name="adj"/>
            </a:avLst>
          </a:prstGeom>
          <a:solidFill>
            <a:srgbClr val="C3C2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2" name="Google Shape;11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1703" y="7690775"/>
            <a:ext cx="172879" cy="13835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9"/>
          <p:cNvSpPr/>
          <p:nvPr/>
        </p:nvSpPr>
        <p:spPr>
          <a:xfrm>
            <a:off x="758275" y="5237411"/>
            <a:ext cx="13074000" cy="11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Open Sans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Limites identifiées :</a:t>
            </a:r>
            <a:r>
              <a:rPr b="0" i="0" lang="en-US" sz="2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Dataset peu exhaustif, données IoT manquantes, ressources limitées</a:t>
            </a:r>
            <a:endParaRPr b="0" i="0" sz="2000" u="none" cap="none" strike="noStrike"/>
          </a:p>
        </p:txBody>
      </p:sp>
      <p:graphicFrame>
        <p:nvGraphicFramePr>
          <p:cNvPr id="114" name="Google Shape;114;p19"/>
          <p:cNvGraphicFramePr/>
          <p:nvPr/>
        </p:nvGraphicFramePr>
        <p:xfrm>
          <a:off x="789463" y="28470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{D897AC37-94DA-4EBD-9043-EE0F7511010A}</a:tableStyleId>
              </a:tblPr>
              <a:tblGrid>
                <a:gridCol w="2602325"/>
                <a:gridCol w="2602325"/>
                <a:gridCol w="2602325"/>
                <a:gridCol w="2602325"/>
                <a:gridCol w="2602325"/>
              </a:tblGrid>
              <a:tr h="464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Tâches</a:t>
                      </a:r>
                      <a:endParaRPr b="1" sz="20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S</a:t>
                      </a:r>
                      <a:r>
                        <a:rPr b="1" lang="en-US" sz="2000"/>
                        <a:t>echeresse</a:t>
                      </a:r>
                      <a:endParaRPr b="1" sz="20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M</a:t>
                      </a:r>
                      <a:r>
                        <a:rPr b="1" lang="en-US" sz="2000"/>
                        <a:t>aladie</a:t>
                      </a:r>
                      <a:endParaRPr b="1" sz="20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I</a:t>
                      </a:r>
                      <a:r>
                        <a:rPr b="1" lang="en-US" sz="2000"/>
                        <a:t>rrigation</a:t>
                      </a:r>
                      <a:endParaRPr b="1" sz="20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000"/>
                        <a:t>P</a:t>
                      </a:r>
                      <a:r>
                        <a:rPr b="1" lang="en-US" sz="2000"/>
                        <a:t>luie</a:t>
                      </a:r>
                      <a:endParaRPr b="1" sz="2000"/>
                    </a:p>
                  </a:txBody>
                  <a:tcPr marT="63500" marB="63500" marR="63500" marL="63500"/>
                </a:tc>
              </a:tr>
              <a:tr h="464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Metriques(F1 score, MAE)</a:t>
                      </a:r>
                      <a:endParaRPr sz="20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100</a:t>
                      </a:r>
                      <a:endParaRPr sz="20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100</a:t>
                      </a:r>
                      <a:endParaRPr sz="20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0.005</a:t>
                      </a:r>
                      <a:endParaRPr sz="2000"/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57</a:t>
                      </a:r>
                      <a:endParaRPr sz="2000"/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0"/>
          <p:cNvSpPr/>
          <p:nvPr/>
        </p:nvSpPr>
        <p:spPr>
          <a:xfrm>
            <a:off x="1428075" y="2991900"/>
            <a:ext cx="12404700" cy="22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44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2250"/>
              <a:buFont typeface="Libre Baskerville"/>
              <a:buNone/>
            </a:pPr>
            <a:r>
              <a:rPr b="1" i="0" lang="en-US" sz="5500" u="none" cap="none" strike="noStrike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Démonstration de l'Application</a:t>
            </a:r>
            <a:endParaRPr b="1" i="0" sz="5500" u="none" cap="none" strike="noStrik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6" name="Google Shape;12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1"/>
          <p:cNvSpPr/>
          <p:nvPr/>
        </p:nvSpPr>
        <p:spPr>
          <a:xfrm>
            <a:off x="6280190" y="2391013"/>
            <a:ext cx="7556421" cy="2126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93"/>
              </a:lnSpc>
              <a:spcBef>
                <a:spcPts val="0"/>
              </a:spcBef>
              <a:spcAft>
                <a:spcPts val="0"/>
              </a:spcAft>
              <a:buClr>
                <a:srgbClr val="403CCF"/>
              </a:buClr>
              <a:buSzPts val="13350"/>
              <a:buFont typeface="Libre Baskerville"/>
              <a:buNone/>
            </a:pPr>
            <a:r>
              <a:rPr b="1" i="0" lang="en-US" sz="13350" u="none" cap="none" strike="noStrike">
                <a:solidFill>
                  <a:srgbClr val="403CC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Merci</a:t>
            </a:r>
            <a:endParaRPr b="1" i="0" sz="13350" u="none" cap="none" strike="noStrike"/>
          </a:p>
        </p:txBody>
      </p:sp>
      <p:sp>
        <p:nvSpPr>
          <p:cNvPr id="128" name="Google Shape;128;p21"/>
          <p:cNvSpPr/>
          <p:nvPr/>
        </p:nvSpPr>
        <p:spPr>
          <a:xfrm>
            <a:off x="6280190" y="4857631"/>
            <a:ext cx="75564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750"/>
              <a:buFont typeface="Open Sans"/>
              <a:buNone/>
            </a:pPr>
            <a:r>
              <a:rPr b="0" i="0" lang="en-US" sz="205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Weather Agri Platform - Groupe 13</a:t>
            </a:r>
            <a:endParaRPr b="0" i="0" sz="2050" u="none" cap="none" strike="noStrike"/>
          </a:p>
        </p:txBody>
      </p:sp>
      <p:sp>
        <p:nvSpPr>
          <p:cNvPr id="129" name="Google Shape;129;p21"/>
          <p:cNvSpPr/>
          <p:nvPr/>
        </p:nvSpPr>
        <p:spPr>
          <a:xfrm>
            <a:off x="6280190" y="5633469"/>
            <a:ext cx="75564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49495A"/>
              </a:buClr>
              <a:buSzPts val="1750"/>
              <a:buFont typeface="Open Sans"/>
              <a:buNone/>
            </a:pPr>
            <a:r>
              <a:rPr b="0" i="0" lang="en-US" sz="2000" u="none" cap="none" strike="noStrike">
                <a:solidFill>
                  <a:srgbClr val="49495A"/>
                </a:solidFill>
                <a:latin typeface="Open Sans"/>
                <a:ea typeface="Open Sans"/>
                <a:cs typeface="Open Sans"/>
                <a:sym typeface="Open Sans"/>
              </a:rPr>
              <a:t>Une plateforme intelligente pour l'agriculture africaine</a:t>
            </a:r>
            <a:endParaRPr b="0" i="0" sz="200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